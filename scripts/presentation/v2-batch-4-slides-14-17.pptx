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Inter"/>
              </a:rPr>
              <a:t>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74134"/>
                </a:solidFill>
                <a:latin typeface="Inter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6482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AA"/>
                </a:solidFill>
                <a:latin typeface="Inter"/>
              </a:rPr>
              <a:t>Hackathon PoD Academy — Março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AA"/>
                </a:solidFill>
                <a:latin typeface="Inter"/>
              </a:rPr>
              <a:t>Slide 14/17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11535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8815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11535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8815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731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  <a:latin typeface="Inter"/>
              </a:rPr>
              <a:t>Squad OCI — 6 Agentes IA Especializados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6A"/>
                </a:solidFill>
                <a:latin typeface="Inter"/>
              </a:rPr>
              <a:t>Orquestração multi-agente com DNA de 9 especialistas reais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1247" y="1645920"/>
            <a:ext cx="502920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5567" y="173736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A1A2E"/>
                </a:solidFill>
                <a:latin typeface="Inter"/>
              </a:rPr>
              <a:t>☁️  ATLAS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4A4A6A"/>
                </a:solidFill>
                <a:latin typeface="Inter"/>
              </a:rPr>
              <a:t>Orquestrador — OCI Platform Chief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8A8AAA"/>
                </a:solidFill>
                <a:latin typeface="Inter"/>
              </a:rPr>
              <a:t>Elite Mind: Rohit Rahi — VP Oracle University, OCI Launch Team (2016)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Delega, roteia e valida. NUNCA executa trabalho especialista.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0" i="1">
                <a:solidFill>
                  <a:srgbClr val="8A8AAA"/>
                </a:solidFill>
                <a:latin typeface="Inter"/>
              </a:rPr>
              <a:t>"Orquestrar, delegar, quality gate, checkpoint"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7207" y="2148840"/>
            <a:ext cx="1152144" cy="20116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ORCHESTRATOR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06727.5" y="3154680"/>
            <a:ext cx="0.0" cy="484632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01287.5" y="3154680"/>
            <a:ext cx="0.0" cy="484632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5847.5" y="3154680"/>
            <a:ext cx="0.0" cy="484632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90407.5" y="3154680"/>
            <a:ext cx="0.0" cy="484632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84967.5" y="3154680"/>
            <a:ext cx="0.0" cy="484632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06727.5" y="3337560"/>
            <a:ext cx="8778240.0" cy="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5847.5" y="3154680"/>
            <a:ext cx="0.0" cy="18288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06727.5" y="3337560"/>
            <a:ext cx="0.0" cy="32004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01287.5" y="3337560"/>
            <a:ext cx="0.0" cy="32004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5847.5" y="3337560"/>
            <a:ext cx="0.0" cy="32004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90407.5" y="3337560"/>
            <a:ext cx="0.0" cy="32004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84967.5" y="3337560"/>
            <a:ext cx="0.0" cy="320040"/>
          </a:xfrm>
          <a:prstGeom prst="line">
            <a:avLst/>
          </a:prstGeom>
          <a:ln w="19050">
            <a:solidFill>
              <a:srgbClr val="00F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0887" y="365760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615" y="3749040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1A1A2E"/>
                </a:solidFill>
                <a:latin typeface="Inter"/>
              </a:rPr>
              <a:t>🏗️  STRATOS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Infraestrutura — IaC Architect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8A8AAA"/>
                </a:solidFill>
                <a:latin typeface="Inter"/>
              </a:rPr>
              <a:t>Elite Minds: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André Corrêa Neto — CIS OCI Landing Zones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Ali Mukadam — Terraform OCI Modules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Yevgeniy Brikman — Terraform Up &amp; Running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"Infraestrutura como código"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86687" y="41605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TIER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95447" y="365760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5175" y="3749040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1A1A2E"/>
                </a:solidFill>
                <a:latin typeface="Inter"/>
              </a:rPr>
              <a:t>🔄  FLUX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Data Pipeline — Lakehouse &amp; PySpark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8A8AAA"/>
                </a:solidFill>
                <a:latin typeface="Inter"/>
              </a:rPr>
              <a:t>Elite Minds: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Matei Zaharia — Criador Apache Spark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Holden Karau — High Performance Spark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"Data flows through the medallion"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81247" y="41605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TIER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90007" y="365760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9735" y="3749040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1A1A2E"/>
                </a:solidFill>
                <a:latin typeface="Inter"/>
              </a:rPr>
              <a:t>🧠  NEURON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ML Systems — Credit Risk Specialist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8A8AAA"/>
                </a:solidFill>
                <a:latin typeface="Inter"/>
              </a:rPr>
              <a:t>Elite Minds: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Chip Huyen — Designing ML Systems (Stanford)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Goku Mohandas — Made With ML (30K+ stars)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"Modelos em produção na OCI"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75807" y="41605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TIER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4567" y="365760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94295" y="3749040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1A1A2E"/>
                </a:solidFill>
                <a:latin typeface="Inter"/>
              </a:rPr>
              <a:t>💰  NIMBUS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FinOps — Cloud Operations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8A8AAA"/>
                </a:solidFill>
                <a:latin typeface="Inter"/>
              </a:rPr>
              <a:t>Elite Minds: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J.R. Storment — FinOps Foundation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Rohit Rahi — OCI Architecture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"Every dollar has a purpose"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70367" y="41605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TIER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79127" y="365760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8855" y="3749040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600" b="1" i="0">
                <a:solidFill>
                  <a:srgbClr val="1A1A2E"/>
                </a:solidFill>
                <a:latin typeface="Inter"/>
              </a:rPr>
              <a:t>🛡️  SENTINEL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Segurança — CIS Compliance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8A8AAA"/>
                </a:solidFill>
                <a:latin typeface="Inter"/>
              </a:rPr>
              <a:t>Elite Minds: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André Corrêa Neto — CIS OCI Benchmarks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"Segurança é inegociável"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64927" y="41605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800" b="1">
                <a:solidFill>
                  <a:srgbClr val="1A1A2E"/>
                </a:solidFill>
                <a:latin typeface="Inter"/>
              </a:rPr>
              <a:t>TIER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97880"/>
            <a:ext cx="11094415" cy="320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4A4A6A"/>
                </a:solidFill>
                <a:latin typeface="Inter"/>
              </a:rPr>
              <a:t>Quality Mode A+  |  ~150 veto conditions  |  9 elite minds clonados  |  Modelo: All Opus — máximo raciocínio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Inter"/>
              </a:rPr>
              <a:t>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74134"/>
                </a:solidFill>
                <a:latin typeface="Inter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6482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AA"/>
                </a:solidFill>
                <a:latin typeface="Inter"/>
              </a:rPr>
              <a:t>Hackathon PoD Academy — Março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AA"/>
                </a:solidFill>
                <a:latin typeface="Inter"/>
              </a:rPr>
              <a:t>Slide 15/17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11535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8815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11535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8815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731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  <a:latin typeface="Inter"/>
              </a:rPr>
              <a:t>Mind Cloning — DNA de Especialistas Reais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6A"/>
                </a:solidFill>
                <a:latin typeface="Inter"/>
              </a:rPr>
              <a:t>Pipeline de 3 fases para clonar expertise em agentes 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" y="169164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687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🔍  1. RESEARCH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4A4A6A"/>
                </a:solidFill>
                <a:latin typeface="Inter"/>
              </a:rPr>
              <a:t>Curadoria de Fontes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18407" y="3090672"/>
            <a:ext cx="411480" cy="22860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6967" y="28895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F0FF"/>
                </a:solidFill>
                <a:latin typeface="Inter"/>
              </a:rPr>
              <a:t>Extrai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9927" y="169164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7087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🧬  2. DNA EXTRACTION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4A4A6A"/>
                </a:solidFill>
                <a:latin typeface="Inter"/>
              </a:rPr>
              <a:t>Voice + Thinking DNA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61807" y="3090672"/>
            <a:ext cx="411480" cy="22860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0367" y="28895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0F0FF"/>
                </a:solidFill>
                <a:latin typeface="Inter"/>
              </a:rPr>
              <a:t>Constrói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3327" y="169164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0487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⚙️  3. ARTIFACT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4A4A6A"/>
                </a:solidFill>
                <a:latin typeface="Inter"/>
              </a:rPr>
              <a:t>Agente Operacional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687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Pesquisa de especialistas reais por domínio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Curadoria de fontes primárias (livros, papers, talks)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Classificação por qualidade: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407" y="301752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847" y="30449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A1A2E"/>
                </a:solidFill>
                <a:latin typeface="Inter"/>
              </a:rPr>
              <a:t>OURO — Fonte ≥60% coverage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Chip Huyen → Designing ML Systems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9407" y="352044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0847" y="3547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A1A2E"/>
                </a:solidFill>
                <a:latin typeface="Inter"/>
              </a:rPr>
              <a:t>BRONZE — Fonte parcial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Blog posts, conference talks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9407" y="402336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0847" y="4050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A1A2E"/>
                </a:solidFill>
                <a:latin typeface="Inter"/>
              </a:rPr>
              <a:t>ELIMINATE — Não confiável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800" b="0" i="1">
                <a:solidFill>
                  <a:srgbClr val="8A8AAA"/>
                </a:solidFill>
                <a:latin typeface="Inter"/>
              </a:rPr>
              <a:t>Resumos de terceiros, conteúdo desatualizado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9655" y="237744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2807" y="2423160"/>
            <a:ext cx="13167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Inter"/>
              </a:rPr>
              <a:t>Voice DNA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Signature phrases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Power words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Tone calibration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Prohibited phrases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700" b="0" i="1">
                <a:solidFill>
                  <a:srgbClr val="8A8AAA"/>
                </a:solidFill>
                <a:latin typeface="Inter"/>
              </a:rPr>
              <a:t>Zaharia: "The medallion pattern exists because data matures in stages"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700" b="0" i="1">
                <a:solidFill>
                  <a:srgbClr val="8A8AAA"/>
                </a:solidFill>
                <a:latin typeface="Inter"/>
              </a:rPr>
              <a:t>Storment: "Every dollar has a purpose"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2423" y="237744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05575" y="2423160"/>
            <a:ext cx="131673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Inter"/>
              </a:rPr>
              <a:t>Thinking DNA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Decision frameworks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Heuristics &amp; SOPs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Anti-patterns catalog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4A4A6A"/>
                </a:solidFill>
                <a:latin typeface="Inter"/>
              </a:rPr>
              <a:t>Veto conditions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6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700" b="0" i="1">
                <a:solidFill>
                  <a:srgbClr val="8A8AAA"/>
                </a:solidFill>
                <a:latin typeface="Inter"/>
              </a:rPr>
              <a:t>Huyen: "A model is only as good as the system that serves it"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400" b="0" i="0">
                <a:solidFill>
                  <a:srgbClr val="4A4A6A"/>
                </a:solidFill>
                <a:latin typeface="Inter"/>
              </a:rPr>
              <a:t/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700" b="0" i="1">
                <a:solidFill>
                  <a:srgbClr val="8A8AAA"/>
                </a:solidFill>
                <a:latin typeface="Inter"/>
              </a:rPr>
              <a:t>Brikman: "Small, composable, testable, versioned modules"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6207" y="2377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Agent persona file (.md)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Core principles (CRITICAL/HIGH)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Commands &amp; routing matrix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Quality gates por fase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Veto conditions (~150 total)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Anti-patterns catalog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✅  Psychometric calibration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0487" y="3931920"/>
            <a:ext cx="30175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1927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A1A2E"/>
                </a:solidFill>
                <a:latin typeface="Inter"/>
              </a:rPr>
              <a:t>Resultado: Agente que PENSA como o especialista, NÃO apenas repete frases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937760"/>
            <a:ext cx="2682163" cy="59436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>
                <a:lumMod val="30000"/>
                <a:lumOff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83480"/>
            <a:ext cx="259072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9 Elite Minds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8A8AAA"/>
                </a:solidFill>
                <a:latin typeface="Inter"/>
              </a:rPr>
              <a:t>Especialistas clonados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67963" y="4937760"/>
            <a:ext cx="2682163" cy="59436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>
                <a:lumMod val="30000"/>
                <a:lumOff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3683" y="4983480"/>
            <a:ext cx="259072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6 Agentes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8A8AAA"/>
                </a:solidFill>
                <a:latin typeface="Inter"/>
              </a:rPr>
              <a:t>Operacionais no squad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1567" y="4937760"/>
            <a:ext cx="2682163" cy="59436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>
                <a:lumMod val="30000"/>
                <a:lumOff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7287" y="4983480"/>
            <a:ext cx="259072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~150 Veto Conditions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8A8AAA"/>
                </a:solidFill>
                <a:latin typeface="Inter"/>
              </a:rPr>
              <a:t>Quality Mode A+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171" y="4937760"/>
            <a:ext cx="2682163" cy="59436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00F0FF">
                <a:lumMod val="30000"/>
                <a:lumOff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0891" y="4983480"/>
            <a:ext cx="259072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800" b="1" i="0">
                <a:solidFill>
                  <a:srgbClr val="1A1A2E"/>
                </a:solidFill>
                <a:latin typeface="Inter"/>
              </a:rPr>
              <a:t>12 Anti-patterns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900" b="0" i="0">
                <a:solidFill>
                  <a:srgbClr val="8A8AAA"/>
                </a:solidFill>
                <a:latin typeface="Inter"/>
              </a:rPr>
              <a:t>Catalogados e bloqueados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Inter"/>
              </a:rPr>
              <a:t>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74134"/>
                </a:solidFill>
                <a:latin typeface="Inter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6482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AA"/>
                </a:solidFill>
                <a:latin typeface="Inter"/>
              </a:rPr>
              <a:t>Hackathon PoD Academy — Março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AA"/>
                </a:solidFill>
                <a:latin typeface="Inter"/>
              </a:rPr>
              <a:t>Slide 16/17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11535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8815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11535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8815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731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  <a:latin typeface="Inter"/>
              </a:rPr>
              <a:t>Produtividade IA — Resultados Concretos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6A"/>
                </a:solidFill>
                <a:latin typeface="Inter"/>
              </a:rPr>
              <a:t>O que a orquestração multi-agente entregou no hackathon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645920"/>
            <a:ext cx="2145731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691640"/>
            <a:ext cx="19994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INFRA</a:t>
            </a:r>
          </a:p>
          <a:p>
            <a:pPr algn="ctr"/>
            <a:r>
              <a:rPr sz="900">
                <a:solidFill>
                  <a:srgbClr val="CCCCCC"/>
                </a:solidFill>
                <a:latin typeface="Inter"/>
              </a:rPr>
              <a:t>Terraform
7 módulos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94371" y="1915668"/>
            <a:ext cx="91440" cy="146304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5811" y="1645920"/>
            <a:ext cx="2145731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8963" y="1691640"/>
            <a:ext cx="19994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DATA</a:t>
            </a:r>
          </a:p>
          <a:p>
            <a:pPr algn="ctr"/>
            <a:r>
              <a:rPr sz="900">
                <a:solidFill>
                  <a:srgbClr val="CCCCCC"/>
                </a:solidFill>
                <a:latin typeface="Inter"/>
              </a:rPr>
              <a:t>Pipeline B+S+G
5h45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31542" y="1915668"/>
            <a:ext cx="91440" cy="146304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2982" y="1645920"/>
            <a:ext cx="2145731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6134" y="1691640"/>
            <a:ext cx="19994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ML</a:t>
            </a:r>
          </a:p>
          <a:p>
            <a:pPr algn="ctr"/>
            <a:r>
              <a:rPr sz="900">
                <a:solidFill>
                  <a:srgbClr val="CCCCCC"/>
                </a:solidFill>
                <a:latin typeface="Inter"/>
              </a:rPr>
              <a:t>Training 5 modelos
58 min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68713" y="1915668"/>
            <a:ext cx="91440" cy="146304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60153" y="1645920"/>
            <a:ext cx="2145731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305" y="1691640"/>
            <a:ext cx="19994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CONSUME</a:t>
            </a:r>
          </a:p>
          <a:p>
            <a:pPr algn="ctr"/>
            <a:r>
              <a:rPr sz="900">
                <a:solidFill>
                  <a:srgbClr val="CCCCCC"/>
                </a:solidFill>
                <a:latin typeface="Inter"/>
              </a:rPr>
              <a:t>ADW+APEX
Always Free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05884" y="1915668"/>
            <a:ext cx="91440" cy="146304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7324" y="1645920"/>
            <a:ext cx="2145731" cy="685800"/>
          </a:xfrm>
          <a:prstGeom prst="roundRect">
            <a:avLst>
              <a:gd name="adj" fmla="val 8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0476" y="1691640"/>
            <a:ext cx="199942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Inter"/>
              </a:rPr>
              <a:t>TOTAL</a:t>
            </a:r>
          </a:p>
          <a:p>
            <a:pPr algn="ctr"/>
            <a:r>
              <a:rPr sz="900">
                <a:solidFill>
                  <a:srgbClr val="1A1A2E"/>
                </a:solidFill>
                <a:latin typeface="Inter"/>
              </a:rPr>
              <a:t>~6h43 pipeline
completo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1A1A2E"/>
                </a:solidFill>
                <a:latin typeface="Inter"/>
              </a:rPr>
              <a:t>6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Scripts Python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Produção-ready, testados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97709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70861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1A1A2E"/>
                </a:solidFill>
                <a:latin typeface="Inter"/>
              </a:rPr>
              <a:t>13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Tasks Airflow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DAG orquestrado end-to-end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6778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9930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1A1A2E"/>
                </a:solidFill>
                <a:latin typeface="Inter"/>
              </a:rPr>
              <a:t>7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Módulos Terraform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IaC completo, destroy &lt; 5min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8999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1A1A2E"/>
                </a:solidFill>
                <a:latin typeface="Inter"/>
              </a:rPr>
              <a:t>5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Modelos Treinados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Todos QG-05 PASSED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44916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8068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1A1A2E"/>
                </a:solidFill>
                <a:latin typeface="Inter"/>
              </a:rPr>
              <a:t>3.9M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Registros Scorados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Batch scoring completo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93985" y="2606040"/>
            <a:ext cx="1775917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67137" y="2679192"/>
            <a:ext cx="162961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3600" b="1" i="0">
                <a:solidFill>
                  <a:srgbClr val="00FF88"/>
                </a:solidFill>
                <a:latin typeface="Inter"/>
              </a:rPr>
              <a:t>0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100" b="1" i="0">
                <a:solidFill>
                  <a:srgbClr val="1A1A2E"/>
                </a:solidFill>
                <a:latin typeface="Inter"/>
              </a:rPr>
              <a:t>Erros de Produção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~150 veto conditions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Inter"/>
              </a:rPr>
              <a:t>Ferramentas dos Agentes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51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Inter"/>
              </a:rPr>
              <a:t>Infra + Ops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4270248"/>
            <a:ext cx="932688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Terraform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12364" y="4270248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OCI CLI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0" y="4270248"/>
            <a:ext cx="932688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Steampipe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24044" y="4270248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Checkov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4270248"/>
            <a:ext cx="1591056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Resource Scheduler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Inter"/>
              </a:rPr>
              <a:t>Data + ML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0" y="4590288"/>
            <a:ext cx="1078992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PySpark 3.5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67812" y="4590288"/>
            <a:ext cx="1225296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Delta/Parquet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62272" y="459028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MLflow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12664" y="459028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Optuna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63056" y="459028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SHAP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04304" y="4590288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Pandera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8920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1A2E"/>
                </a:solidFill>
                <a:latin typeface="Inter"/>
              </a:rPr>
              <a:t>Plataforma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28800" y="4910328"/>
            <a:ext cx="1225296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OCI Data Flow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23260" y="4910328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Object Storage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95444" y="4910328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ADW Serverless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67628" y="4910328"/>
            <a:ext cx="1152144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Data Catalog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84364" y="4910328"/>
            <a:ext cx="932688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OCI Vault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67928" y="491032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00" b="1">
                <a:solidFill>
                  <a:srgbClr val="1A1A2E"/>
                </a:solidFill>
                <a:latin typeface="Inter"/>
              </a:rPr>
              <a:t>APEX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63040" y="5303520"/>
            <a:ext cx="9265615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45920" y="5349240"/>
            <a:ext cx="8899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400" b="1" i="0">
                <a:solidFill>
                  <a:srgbClr val="1A1A2E"/>
                </a:solidFill>
                <a:latin typeface="Inter"/>
              </a:rPr>
              <a:t>Um engenheiro + 6 agentes IA = pipeline completo de credit risk em &lt; 7 horas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Inter"/>
              </a:rPr>
              <a:t>Claro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731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74134"/>
                </a:solidFill>
                <a:latin typeface="Inter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6482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AA"/>
                </a:solidFill>
                <a:latin typeface="Inter"/>
              </a:rPr>
              <a:t>Hackathon PoD Academy — Março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AA"/>
                </a:solidFill>
                <a:latin typeface="Inter"/>
              </a:rPr>
              <a:t>Slide 17/17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11535" y="13716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8815" y="1371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11535" y="6720840"/>
            <a:ext cx="1097280" cy="1905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8815" y="5623560"/>
            <a:ext cx="19050" cy="1097280"/>
          </a:xfrm>
          <a:prstGeom prst="rect">
            <a:avLst/>
          </a:prstGeom>
          <a:solidFill>
            <a:srgbClr val="00F0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731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2E"/>
                </a:solidFill>
                <a:latin typeface="Inter"/>
              </a:rPr>
              <a:t>Próximos Passos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325880"/>
            <a:ext cx="358841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435608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Inter"/>
              </a:rPr>
              <a:t>Fase 1 — CURTO PRAZO (0-3 meses)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78308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57400"/>
            <a:ext cx="331409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Deploy do champion em produção (batch scoring mensal)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Integração com sistemas de aprovação Claro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Alertas automáticos de drift (PSI &gt; 0.10)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1642" y="1325880"/>
            <a:ext cx="358841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8802" y="1435608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Inter"/>
              </a:rPr>
              <a:t>Fase 2 — MÉDIO PRAZO (3-6 meses)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8802" y="1783080"/>
            <a:ext cx="859536" cy="201168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EVOLUÇÃO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8802" y="2057400"/>
            <a:ext cx="331409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Retreino trimestral com dados frescos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A/B testing de cutoffs por segmento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Score de crédito em tempo real (API REST)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4644" y="1325880"/>
            <a:ext cx="358841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1804" y="1435608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2E"/>
                </a:solidFill>
                <a:latin typeface="Inter"/>
              </a:rPr>
              <a:t>Fase 3 — LONGO PRAZO (6-12 meses)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804" y="1783080"/>
            <a:ext cx="859536" cy="201168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1A1A2E"/>
                </a:solidFill>
                <a:latin typeface="Inter"/>
              </a:rPr>
              <a:t>EXPANSÃO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804" y="2057400"/>
            <a:ext cx="331409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Expansão para outros produtos Claro (fibra, TV)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Modelo de lifetime value (LTV) + churn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 i="0">
                <a:solidFill>
                  <a:srgbClr val="4A4A6A"/>
                </a:solidFill>
                <a:latin typeface="Inter"/>
              </a:rPr>
              <a:t>• Federação de dados com parceiros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3566160"/>
            <a:ext cx="101800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57600"/>
            <a:ext cx="24535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A1A2E"/>
                </a:solidFill>
                <a:latin typeface="Inter"/>
              </a:rPr>
              <a:t>3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1" i="0">
                <a:solidFill>
                  <a:srgbClr val="1A1A2E"/>
                </a:solidFill>
                <a:latin typeface="Inter"/>
              </a:rPr>
              <a:t>Cenários de cutoff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ferramenta de decisão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2283" y="3657600"/>
            <a:ext cx="24535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00FF88"/>
                </a:solidFill>
                <a:latin typeface="Inter"/>
              </a:rPr>
              <a:t>+R$ 1.7M líq.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1" i="0">
                <a:solidFill>
                  <a:srgbClr val="1A1A2E"/>
                </a:solidFill>
                <a:latin typeface="Inter"/>
              </a:rPr>
              <a:t>Cenário agressivo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cutoff 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3657600"/>
            <a:ext cx="24535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A1A2E"/>
                </a:solidFill>
                <a:latin typeface="Inter"/>
              </a:rPr>
              <a:t>&lt; R$ 170/mês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1" i="0">
                <a:solidFill>
                  <a:srgbClr val="1A1A2E"/>
                </a:solidFill>
                <a:latin typeface="Inter"/>
              </a:rPr>
              <a:t>Custo OCI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infraestrutura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411" y="3657600"/>
            <a:ext cx="24535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2400" b="1" i="0">
                <a:solidFill>
                  <a:srgbClr val="1A1A2E"/>
                </a:solidFill>
                <a:latin typeface="Inter"/>
              </a:rPr>
              <a:t>3.9M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1000" b="1" i="0">
                <a:solidFill>
                  <a:srgbClr val="1A1A2E"/>
                </a:solidFill>
                <a:latin typeface="Inter"/>
              </a:rPr>
              <a:t>Clientes scorados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</a:pPr>
            <a:r>
              <a:rPr sz="800" b="0" i="0">
                <a:solidFill>
                  <a:srgbClr val="8A8AAA"/>
                </a:solidFill>
                <a:latin typeface="Inter"/>
              </a:rPr>
              <a:t>cobertura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43400"/>
            <a:ext cx="101800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A4A6A"/>
                </a:solidFill>
                <a:latin typeface="Inter"/>
              </a:rPr>
              <a:t>De dados brutos a decisões inteligentes — em 6 horas e 43 minutos.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526280"/>
            <a:ext cx="101800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A8AAA"/>
                </a:solidFill>
                <a:latin typeface="Inter"/>
              </a:rPr>
              <a:t>*Economia líquida depende do cutoff e do LGD real. Modelo entrega a ferramenta; Claro define a política.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  <a:latin typeface="Inter"/>
              </a:rPr>
              <a:t>Obrigado.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A4A6A"/>
                </a:solidFill>
                <a:latin typeface="Inter"/>
              </a:rPr>
              <a:t>Equipe Hackathon PoD Academy — Claro + Oracle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